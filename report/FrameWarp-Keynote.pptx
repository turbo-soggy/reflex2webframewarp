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76709"/>
            <a:ext cx="1648206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62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VIVA-VOCE · JUNE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783159"/>
            <a:ext cx="1648206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0" b="1" spc="-300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 WARP</a:t>
            </a:r>
            <a:pPr algn="l" indent="0" marL="0">
              <a:lnSpc>
                <a:spcPct val="95000"/>
              </a:lnSpc>
              <a:buNone/>
            </a:pPr>
            <a:r>
              <a:rPr lang="en-US" sz="15000" b="1" spc="-300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_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143000" y="5897960"/>
            <a:ext cx="11576685" cy="103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Client-side frame reprojection for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motion-to-photon latency mitigation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browser and cloud-streamed rendering.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7692430"/>
            <a:ext cx="2220020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381 </a:t>
            </a:r>
            <a:pPr algn="l" indent="0" marL="0">
              <a:buNone/>
            </a:pPr>
            <a:r>
              <a:rPr lang="en-US" sz="324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96420" y="8067080"/>
            <a:ext cx="609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5A65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39420" y="7692430"/>
            <a:ext cx="1622028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</a:t>
            </a:r>
            <a:pPr algn="l" indent="0" marL="0">
              <a:buNone/>
            </a:pPr>
            <a:r>
              <a:rPr lang="en-US" sz="324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194848" y="8327430"/>
            <a:ext cx="412051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FELT VIEW-DIRECTION LATENCY, SAME 160 MS NETWORK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9569450"/>
            <a:ext cx="59241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ISAAC BENJAMIN DAVID · URK23AI1035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01709" y="9569450"/>
            <a:ext cx="766659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KARUNYA INSTITUTE OF TECHNOLOGY AND SCIENCES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2010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182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stage of the pipeline holds your input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little longer.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143000" y="3902075"/>
            <a:ext cx="12557760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display refreshes every 17 ms — but the pixels it shows reflect input from the past. In cloud streaming the frame must also survive encoding, a network round trip, and decoding.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6079431"/>
            <a:ext cx="1788517" cy="8890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8900" y="6371531"/>
            <a:ext cx="13567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083917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503017" y="6079431"/>
            <a:ext cx="1841500" cy="8890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8917" y="6371531"/>
            <a:ext cx="1409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496917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16017" y="6079431"/>
            <a:ext cx="1788616" cy="8890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1917" y="6371531"/>
            <a:ext cx="1356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RENDER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857034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76134" y="6079431"/>
            <a:ext cx="1788517" cy="889000"/>
          </a:xfrm>
          <a:prstGeom prst="rect">
            <a:avLst/>
          </a:prstGeom>
          <a:solidFill>
            <a:srgbClr val="160F0E"/>
          </a:solidFill>
          <a:ln w="6350">
            <a:solidFill>
              <a:srgbClr val="5C2B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2034" y="6371531"/>
            <a:ext cx="13567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F6B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ENCODE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217051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636151" y="6079431"/>
            <a:ext cx="1788616" cy="889000"/>
          </a:xfrm>
          <a:prstGeom prst="rect">
            <a:avLst/>
          </a:prstGeom>
          <a:solidFill>
            <a:srgbClr val="160F0E"/>
          </a:solidFill>
          <a:ln w="6350">
            <a:solidFill>
              <a:srgbClr val="5C2B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52051" y="6371531"/>
            <a:ext cx="1356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F6B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NETWORK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2577167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996267" y="6079431"/>
            <a:ext cx="1788616" cy="889000"/>
          </a:xfrm>
          <a:prstGeom prst="rect">
            <a:avLst/>
          </a:prstGeom>
          <a:solidFill>
            <a:srgbClr val="160F0E"/>
          </a:solidFill>
          <a:ln w="6350">
            <a:solidFill>
              <a:srgbClr val="5C2B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12167" y="6371531"/>
            <a:ext cx="1356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FF6B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DECODE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4937284" y="6079431"/>
            <a:ext cx="342900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5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5356384" y="6079431"/>
            <a:ext cx="1788616" cy="889000"/>
          </a:xfrm>
          <a:prstGeom prst="rect">
            <a:avLst/>
          </a:prstGeom>
          <a:solidFill>
            <a:srgbClr val="0B161A"/>
          </a:solidFill>
          <a:ln w="6350">
            <a:solidFill>
              <a:srgbClr val="0E5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72284" y="6371531"/>
            <a:ext cx="1356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DISPLAY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143000" y="7539930"/>
            <a:ext cx="8015076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195" kern="0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100–300 </a:t>
            </a:r>
            <a:pPr algn="l" indent="0" marL="0">
              <a:lnSpc>
                <a:spcPct val="100000"/>
              </a:lnSpc>
              <a:buNone/>
            </a:pPr>
            <a:r>
              <a:rPr lang="en-US" sz="4388" spc="-195" kern="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9750" dirty="0"/>
          </a:p>
        </p:txBody>
      </p:sp>
      <p:sp>
        <p:nvSpPr>
          <p:cNvPr id="28" name="Text 26"/>
          <p:cNvSpPr/>
          <p:nvPr/>
        </p:nvSpPr>
        <p:spPr>
          <a:xfrm>
            <a:off x="1143000" y="8949630"/>
            <a:ext cx="801507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 CLOUD-GAMING LATENCY IN PRIOR STUDIES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06000" y="8270181"/>
            <a:ext cx="745617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camera control it is directly felt: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view lags the hand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with measurable damage to player performance well below these figures.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084969" y="9569450"/>
            <a:ext cx="41818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MOTION-TO-PHOTON LATENCY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2010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INSIGHT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931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clocks.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warp.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143000" y="3008313"/>
            <a:ext cx="12557760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Mouse input runs at hundreds of hertz even when frames don't. So render slow — and at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display refresh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shift the newest frame by the rotation that happened since it was drawn.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5109468"/>
            <a:ext cx="24574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spc="225" kern="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225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125–1000 Hz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905250" y="5250756"/>
            <a:ext cx="13239750" cy="431800"/>
          </a:xfrm>
          <a:prstGeom prst="rect">
            <a:avLst/>
          </a:prstGeom>
          <a:solidFill>
            <a:srgbClr val="0E1218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6166743"/>
            <a:ext cx="24574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spc="225" kern="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RENDER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225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FPS · stale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3905250" y="6308031"/>
            <a:ext cx="13239750" cy="431800"/>
          </a:xfrm>
          <a:prstGeom prst="rect">
            <a:avLst/>
          </a:prstGeom>
          <a:solidFill>
            <a:srgbClr val="0E1218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7224018"/>
            <a:ext cx="24574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spc="225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WARP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225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refresh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3905250" y="7365306"/>
            <a:ext cx="13239750" cy="431800"/>
          </a:xfrm>
          <a:prstGeom prst="rect">
            <a:avLst/>
          </a:prstGeom>
          <a:solidFill>
            <a:srgbClr val="0E1218"/>
          </a:solidFill>
          <a:ln w="6350">
            <a:solidFill>
              <a:srgbClr val="0E5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8627368"/>
            <a:ext cx="7188002" cy="92710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9548118"/>
            <a:ext cx="718800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8627368"/>
            <a:ext cx="718800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8627368"/>
            <a:ext cx="19050" cy="927100"/>
          </a:xfrm>
          <a:prstGeom prst="rect">
            <a:avLst/>
          </a:prstGeom>
          <a:solidFill>
            <a:srgbClr val="1FD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4652" y="8627368"/>
            <a:ext cx="9525" cy="927100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485900" y="8881368"/>
            <a:ext cx="673054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F5F7"/>
                </a:solidFill>
                <a:highlight>
                  <a:srgbClr val="0E1218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Δu = −Δyaw / fov</a:t>
            </a:r>
            <a:pPr algn="l" indent="0" marL="0">
              <a:buNone/>
            </a:pPr>
            <a:r>
              <a:rPr lang="en-US" sz="1875" baseline="-4000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 </a:t>
            </a:r>
            <a:pPr algn="l" indent="0" marL="0">
              <a:buNone/>
            </a:pPr>
            <a:r>
              <a:rPr lang="en-US" sz="2250" dirty="0">
                <a:solidFill>
                  <a:srgbClr val="F2F5F7"/>
                </a:solidFill>
                <a:highlight>
                  <a:srgbClr val="0E1218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Δv = Δpitch / fov</a:t>
            </a:r>
            <a:pPr algn="l" indent="0" marL="0">
              <a:buNone/>
            </a:pPr>
            <a:r>
              <a:rPr lang="en-US" sz="1875" baseline="-4000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712002" y="8490843"/>
            <a:ext cx="627888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family as VR asynchronous timewarp and NVIDIA Reflex 2 Frame Warp — moved into the browser, over real video.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114984" y="9569450"/>
            <a:ext cx="21062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REPROJECTION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3942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RELATED WORK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Everyone owns something this client doesn't.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3027363"/>
            <a:ext cx="5130800" cy="37084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4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VR REPROJECTION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68450" y="3998913"/>
            <a:ext cx="4408297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Owns the GPU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68450" y="4659313"/>
            <a:ext cx="440829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Timewarp, async spacewarp — the compositor has the engine, depth, and undistorted frames.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browser video client has none of these.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78600" y="3027363"/>
            <a:ext cx="5130800" cy="37084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40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CLOUD-GAMING RESEARCH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04050" y="3998913"/>
            <a:ext cx="4408297" cy="101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Measures, doesn't remove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04050" y="5148263"/>
            <a:ext cx="440829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decade of studies decompose and quantify the latency —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term of the sum is eliminated.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14200" y="3027363"/>
            <a:ext cx="5130800" cy="37084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96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SERVER-SIDE COMPENSATION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39650" y="3998913"/>
            <a:ext cx="4408297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Owns the engine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439650" y="4659313"/>
            <a:ext cx="440829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Outatime speculates futures; Kahawai splits rendering. Both require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 integration and server compute.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7269163"/>
            <a:ext cx="12557760" cy="103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gap: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reprojects the video stream itself, on the client, with no engine access —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where this project lives.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449823" y="9569450"/>
            <a:ext cx="277603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LITERATURE → GAP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12352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artefacts, one compositor.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3027363"/>
            <a:ext cx="5130800" cy="5538788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4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LOCAL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68450" y="3998913"/>
            <a:ext cx="4408297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Shooting range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68450" y="4659313"/>
            <a:ext cx="4408297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Three.js, 30 FPS source, 80 ms injected delay, reprojected to display rate.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Press W — only the warp toggles.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latency, CSV export.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78600" y="3027363"/>
            <a:ext cx="5130800" cy="5538788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40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CLOUD PIPELINE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04050" y="3998913"/>
            <a:ext cx="4408297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Split across a network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04050" y="4659313"/>
            <a:ext cx="4408297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streams WebRTC video; client warps the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decoded stream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local input. Controlled one-way delay and jitter, both directions.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14200" y="3027363"/>
            <a:ext cx="5130800" cy="5538788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9650" y="3452813"/>
            <a:ext cx="44082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REPLAY INSTRUMENT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39650" y="3998913"/>
            <a:ext cx="4408297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 replay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439650" y="4659313"/>
            <a:ext cx="440829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Headless,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bit-reproducible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re-runs of recorded input through the real pipeline logic. Same input, different pipeline — perfectly controlled.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43000" y="9023350"/>
            <a:ext cx="23978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1750" y="9105900"/>
            <a:ext cx="2156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UNIT TESTS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69420" y="9023350"/>
            <a:ext cx="47981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8170" y="9105900"/>
            <a:ext cx="4624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BUILD STEP · RUNS OFFLINE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96139" y="9023350"/>
            <a:ext cx="527814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54889" y="9105900"/>
            <a:ext cx="51189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FIGURE FROM CSV OR REPLAY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114984" y="9569450"/>
            <a:ext cx="21062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37803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· GUARD BAND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497336"/>
            <a:ext cx="8222328" cy="1976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shifted image needs pixels beyond its own edge.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4702373"/>
            <a:ext cx="8222328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Render a wider field of view than you display; show the central crop. The margin is the warp's range of motion.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005314"/>
            <a:ext cx="5802313" cy="87630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6875264"/>
            <a:ext cx="5802313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6005314"/>
            <a:ext cx="5802313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6005314"/>
            <a:ext cx="19050" cy="876300"/>
          </a:xfrm>
          <a:prstGeom prst="rect">
            <a:avLst/>
          </a:prstGeom>
          <a:solidFill>
            <a:srgbClr val="1FD9FF"/>
          </a:solidFill>
          <a:ln/>
        </p:spPr>
      </p:sp>
      <p:sp>
        <p:nvSpPr>
          <p:cNvPr id="11" name="Shape 9"/>
          <p:cNvSpPr/>
          <p:nvPr/>
        </p:nvSpPr>
        <p:spPr>
          <a:xfrm>
            <a:off x="6938963" y="6005314"/>
            <a:ext cx="9525" cy="876300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485900" y="6259314"/>
            <a:ext cx="530328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sampleUV = g + (uv + Δ)·(1−2g)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7376914"/>
            <a:ext cx="261372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</a:t>
            </a:r>
            <a:pPr algn="l" indent="0" marL="0">
              <a:lnSpc>
                <a:spcPct val="100000"/>
              </a:lnSpc>
              <a:buNone/>
            </a:pPr>
            <a:r>
              <a:rPr lang="en-US" sz="3240" spc="-144" kern="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143000" y="8462764"/>
            <a:ext cx="2613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MARGIN PER SIDE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13920" y="7376914"/>
            <a:ext cx="418183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16.98 </a:t>
            </a:r>
            <a:pPr algn="l" indent="0" marL="0">
              <a:lnSpc>
                <a:spcPct val="100000"/>
              </a:lnSpc>
              <a:buNone/>
            </a:pPr>
            <a:r>
              <a:rPr lang="en-US" sz="3240" spc="-144" kern="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°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213920" y="8462764"/>
            <a:ext cx="41818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 COMPENSABLE ROTATION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843" y="3107333"/>
            <a:ext cx="7257157" cy="49993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209213" y="9569450"/>
            <a:ext cx="714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TAN(F_RENDER/2) = TAN(F_DISPLAY/2)/(1−2G)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35813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· POSE SYNC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911277"/>
            <a:ext cx="10437412" cy="1330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frame carries its own ID —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its pixels.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4470202"/>
            <a:ext cx="10437412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warp a decoded frame you must know the pose it was rendered with. Video and pose packets arrive by independent paths, and browser metadata can't match them exactly.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100763"/>
            <a:ext cx="10437412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the server bakes a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16-bit frame ID into a 4×4 cell grid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corner — hidden inside the guard band. The client reads it back from the decoded video.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by construction.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7883723"/>
            <a:ext cx="383798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1750" y="7966273"/>
            <a:ext cx="363561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PIXEL TAG · 100% EXACT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09580" y="7883723"/>
            <a:ext cx="6066830" cy="463550"/>
          </a:xfrm>
          <a:prstGeom prst="rect">
            <a:avLst/>
          </a:prstGeom>
          <a:ln w="6350">
            <a:solidFill>
              <a:srgbClr val="6E4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8330" y="7966273"/>
            <a:ext cx="593133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TIMESTAMPS · 99.5% CALM → 95% JITTER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8409" y="3825677"/>
            <a:ext cx="5106591" cy="35626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731725" y="9569450"/>
            <a:ext cx="557567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FRAME-EXACT POSE SYNCHRONISATION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12352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931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Honest by construction.</a:t>
            </a:r>
            <a:endParaRPr lang="en-US" sz="6900" dirty="0"/>
          </a:p>
        </p:txBody>
      </p:sp>
      <p:sp>
        <p:nvSpPr>
          <p:cNvPr id="6" name="Shape 4"/>
          <p:cNvSpPr/>
          <p:nvPr/>
        </p:nvSpPr>
        <p:spPr>
          <a:xfrm>
            <a:off x="1143000" y="3236913"/>
            <a:ext cx="7848600" cy="29591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450" y="3662362"/>
            <a:ext cx="72076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HIT DETECTION THAT CAN'T FLATTER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68450" y="4208463"/>
            <a:ext cx="720763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click fires one ray from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orientation the screen is currently displaying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current pose with warp on, lagged pose with warp off — against identical targets. The outcome can differ only through the latency under test.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96400" y="3236913"/>
            <a:ext cx="7848600" cy="295910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21850" y="3662362"/>
            <a:ext cx="72076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CLOCK, NO CROSS-MACHINE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21850" y="4208463"/>
            <a:ext cx="720763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timestamps each input by sequence number; the server echoes which input each frame used. When the pixel tag resolves,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− sentAt(seq)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measures the whole loop in the client's clock alone.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729413"/>
            <a:ext cx="12557760" cy="103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rather than assert. State limits as precisely as gains.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number that follows is a CSV export or an automated test.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23305" y="9569450"/>
            <a:ext cx="383334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MEASUREMENT DISCIPLINE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9845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 · LOCAL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992313"/>
            <a:ext cx="5101590" cy="1330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Tracking shots start hitting.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3856038"/>
            <a:ext cx="510159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156" kern="0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≈91 </a:t>
            </a:r>
            <a:pPr algn="l" indent="0" marL="0">
              <a:lnSpc>
                <a:spcPct val="100000"/>
              </a:lnSpc>
              <a:buNone/>
            </a:pPr>
            <a:r>
              <a:rPr lang="en-US" sz="3510" spc="-156" kern="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143000" y="5018088"/>
            <a:ext cx="510159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 STALENESS · WARP OFF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5659438"/>
            <a:ext cx="510159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156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≈17 </a:t>
            </a:r>
            <a:pPr algn="l" indent="0" marL="0">
              <a:lnSpc>
                <a:spcPct val="100000"/>
              </a:lnSpc>
              <a:buNone/>
            </a:pPr>
            <a:r>
              <a:rPr lang="en-US" sz="3510" spc="-156" kern="0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143000" y="6821488"/>
            <a:ext cx="510159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DISPLAY INTERVAL · WARP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7723188"/>
            <a:ext cx="510159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warp, shots land where the aim was 91 ms ago — and miss. The replay instrument reproduces the relationship across the full delay range.</a:t>
            </a:r>
            <a:endParaRPr lang="en-US" sz="20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1771650"/>
            <a:ext cx="10363200" cy="70231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81800" y="8890000"/>
            <a:ext cx="10674096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1 · VIEW-DIRECTION LATENCY VS INJECTED DELAY · REPLAY INSTRUMENT · 60 HZ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453321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DEMO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9845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 · CLOUD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182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network adds latency.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player doesn't feel it.</a:t>
            </a:r>
            <a:endParaRPr lang="en-US" sz="6900" dirty="0"/>
          </a:p>
        </p:txBody>
      </p:sp>
      <p:sp>
        <p:nvSpPr>
          <p:cNvPr id="6" name="Shape 4"/>
          <p:cNvSpPr/>
          <p:nvPr/>
        </p:nvSpPr>
        <p:spPr>
          <a:xfrm>
            <a:off x="1143000" y="4511675"/>
            <a:ext cx="5080000" cy="353695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5014" y="4937125"/>
            <a:ext cx="435597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MS ONE-WAY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5014" y="554037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150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505014" y="663892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10" name="Shape 8"/>
          <p:cNvSpPr/>
          <p:nvPr/>
        </p:nvSpPr>
        <p:spPr>
          <a:xfrm>
            <a:off x="6604000" y="4511675"/>
            <a:ext cx="5080000" cy="3536950"/>
          </a:xfrm>
          <a:prstGeom prst="rect">
            <a:avLst/>
          </a:prstGeom>
          <a:solidFill>
            <a:srgbClr val="11161D"/>
          </a:solidFill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6014" y="4937125"/>
            <a:ext cx="435597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MS ONE-WAY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66014" y="554037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264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6966014" y="663892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14" name="Shape 12"/>
          <p:cNvSpPr/>
          <p:nvPr/>
        </p:nvSpPr>
        <p:spPr>
          <a:xfrm>
            <a:off x="12065001" y="4511675"/>
            <a:ext cx="5080000" cy="3536950"/>
          </a:xfrm>
          <a:prstGeom prst="rect">
            <a:avLst/>
          </a:prstGeom>
          <a:solidFill>
            <a:srgbClr val="11161D"/>
          </a:solidFill>
          <a:ln w="6350">
            <a:solidFill>
              <a:srgbClr val="0E5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27014" y="4937125"/>
            <a:ext cx="435597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88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160 MS ONE-WAY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27014" y="554037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381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2427014" y="6638925"/>
            <a:ext cx="4355973" cy="1060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</a:t>
            </a:r>
            <a:pPr algn="ctr" indent="0" marL="0">
              <a:buNone/>
            </a:pPr>
            <a:r>
              <a:rPr lang="en-US" sz="2835" dirty="0">
                <a:solidFill>
                  <a:srgbClr val="93A0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143000" y="8782050"/>
            <a:ext cx="267721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F6B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</a:t>
            </a:r>
            <a:pPr algn="l" indent="0" marL="0">
              <a:buNone/>
            </a:pPr>
            <a:r>
              <a:rPr lang="en-US" sz="1800" spc="216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WARP OFF · E2E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99434" y="8782050"/>
            <a:ext cx="43725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</a:t>
            </a:r>
            <a:pPr algn="l" indent="0" marL="0">
              <a:buNone/>
            </a:pPr>
            <a:r>
              <a:rPr lang="en-US" sz="1800" spc="216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WARP ON · VIEW DIRECTION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34500" y="8582025"/>
            <a:ext cx="804481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WebRTC, controlled one-way delay, measured end-to-end. </a:t>
            </a:r>
            <a:pPr algn="l" indent="0" marL="0"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server change beyond a wider FOV and an in-band tag.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393388" y="9569450"/>
            <a:ext cx="59241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 1 · LOOPBACK, PER-MODE MEANS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33823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· JITTER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297013"/>
            <a:ext cx="16482060" cy="931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03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subtraction cancels the age.</a:t>
            </a:r>
            <a:endParaRPr lang="en-US" sz="6900" dirty="0"/>
          </a:p>
        </p:txBody>
      </p:sp>
      <p:sp>
        <p:nvSpPr>
          <p:cNvPr id="6" name="Shape 4"/>
          <p:cNvSpPr/>
          <p:nvPr/>
        </p:nvSpPr>
        <p:spPr>
          <a:xfrm>
            <a:off x="1143000" y="3762276"/>
            <a:ext cx="16002000" cy="133985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095776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762276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762276"/>
            <a:ext cx="19050" cy="1339850"/>
          </a:xfrm>
          <a:prstGeom prst="rect">
            <a:avLst/>
          </a:prstGeom>
          <a:solidFill>
            <a:srgbClr val="1FD9FF"/>
          </a:solidFill>
          <a:ln/>
        </p:spPr>
      </p:sp>
      <p:sp>
        <p:nvSpPr>
          <p:cNvPr id="10" name="Shape 8"/>
          <p:cNvSpPr/>
          <p:nvPr/>
        </p:nvSpPr>
        <p:spPr>
          <a:xfrm>
            <a:off x="17138650" y="3762276"/>
            <a:ext cx="9525" cy="1339850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1" name="Text 9"/>
          <p:cNvSpPr/>
          <p:nvPr/>
        </p:nvSpPr>
        <p:spPr>
          <a:xfrm>
            <a:off x="1695450" y="4149626"/>
            <a:ext cx="15389860" cy="6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2F5F7"/>
                </a:solidFill>
                <a:highlight>
                  <a:srgbClr val="0E1218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= pose</a:t>
            </a:r>
            <a:pPr algn="l" indent="0" marL="0">
              <a:buNone/>
            </a:pPr>
            <a:r>
              <a:rPr lang="en-US" sz="2500" baseline="-4000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</a:t>
            </a:r>
            <a:pPr algn="l" indent="0" marL="0">
              <a:buNone/>
            </a:pPr>
            <a:r>
              <a:rPr lang="en-US" sz="3000" dirty="0">
                <a:solidFill>
                  <a:srgbClr val="F2F5F7"/>
                </a:solidFill>
                <a:highlight>
                  <a:srgbClr val="0E1218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 pose</a:t>
            </a:r>
            <a:pPr algn="l" indent="0" marL="0">
              <a:buNone/>
            </a:pPr>
            <a:r>
              <a:rPr lang="en-US" sz="2500" baseline="-40000" dirty="0">
                <a:solidFill>
                  <a:srgbClr val="F2F5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5635526"/>
            <a:ext cx="13538835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However old the frame is — and however much that age </a:t>
            </a:r>
            <a:pPr algn="l" indent="0" marL="0">
              <a:lnSpc>
                <a:spcPct val="145000"/>
              </a:lnSpc>
              <a:buNone/>
            </a:pPr>
            <a:r>
              <a:rPr lang="en-US" sz="2700" i="1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varies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its pose is recovered exactly via the pixel tag, and the delta applied in full. Perceived rotation latency is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of both the mean and the variance of frame age.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43000" y="7469981"/>
            <a:ext cx="13538835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sinusoidal jitter (40–140 ms) the unwarped stream is visibly unstable;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warped view is indistinguishable from a calm network.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 caveat: jitter widens the delta distribution — raising the odds of exhausting the margin.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23305" y="9569450"/>
            <a:ext cx="383334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§4.2 · JITTER IMMUNITY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45762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THEORY MEETS INSTRUMENT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440781"/>
            <a:ext cx="5101590" cy="1976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predicts its own failure.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4950619"/>
            <a:ext cx="510159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Spin fast enough and the guard band runs out. The analytic bound says clamping starts between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130.6 and 212.2 °/s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the simulator measures onset at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FD9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≈143 °/s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inside the band, verified by an automated test.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7617619"/>
            <a:ext cx="510159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display-tick term in the bound was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 by a failing test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the instrument corrected the theory.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1771650"/>
            <a:ext cx="10363200" cy="70231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1800" y="8890000"/>
            <a:ext cx="10674096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2 · GUARD-BAND EXHAUSTION UNDER CONSTANT ANGULAR VELOCITY · Δmax = 16.98°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15900" y="9569450"/>
            <a:ext cx="435597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§4.3 / §6.3 · CLAMP ONSET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18147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352899"/>
            <a:ext cx="5297805" cy="112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50" b="1" spc="-40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 for the margin only when you move.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43000" y="4976714"/>
            <a:ext cx="529780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fixed 12% band costs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FF6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+73% rendered pixels, always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and aggressive motion still exhausts it (8.6% of ticks, errors to 17.6°).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6362601"/>
            <a:ext cx="529780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Sizing the margin from the worst angular speed in the last 500 ms drops calm-input overhead to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FD9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+33%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eliminates clamping on every trace.</a:t>
            </a:r>
            <a:endParaRPr lang="en-US" sz="20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0" y="1771650"/>
            <a:ext cx="10172700" cy="6724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72300" y="8591550"/>
            <a:ext cx="638874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3 · RENDERED-PIXEL COST, FIXED VS ADAPTIVE · ADAPTIVE CLAMP RATE: 0% ON ALL TRACES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174961" y="8591550"/>
            <a:ext cx="8763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943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 </a:t>
            </a:r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0.12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79861" y="8591550"/>
            <a:ext cx="135642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 </a:t>
            </a:r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ADAPTIVE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864880" y="8591550"/>
            <a:ext cx="135632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–– 1.0× DISPLAY-ONLY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746732" y="9569450"/>
            <a:ext cx="45302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 2 · REPLAY BENCHMARK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12352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1771650"/>
            <a:ext cx="1648206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48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Limits, stated as precisely as gains.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3417888"/>
            <a:ext cx="48006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13063"/>
            <a:ext cx="46017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0" y="3417888"/>
            <a:ext cx="1307306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913063"/>
            <a:ext cx="10406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50906" y="3417888"/>
            <a:ext cx="160625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1" name="Text 9"/>
          <p:cNvSpPr/>
          <p:nvPr/>
        </p:nvSpPr>
        <p:spPr>
          <a:xfrm>
            <a:off x="7250906" y="2913063"/>
            <a:ext cx="13395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57159" y="3417888"/>
            <a:ext cx="828784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3" name="Text 11"/>
          <p:cNvSpPr/>
          <p:nvPr/>
        </p:nvSpPr>
        <p:spPr>
          <a:xfrm>
            <a:off x="8857159" y="2913063"/>
            <a:ext cx="8193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313237"/>
            <a:ext cx="48006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671888"/>
            <a:ext cx="460171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Rotation warp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943600" y="4313237"/>
            <a:ext cx="1307306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366871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2350" y="375126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50906" y="4313237"/>
            <a:ext cx="160625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50906" y="366871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9656" y="375126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57159" y="4313237"/>
            <a:ext cx="828784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3" name="Text 21"/>
          <p:cNvSpPr/>
          <p:nvPr/>
        </p:nvSpPr>
        <p:spPr>
          <a:xfrm>
            <a:off x="8857159" y="3671888"/>
            <a:ext cx="81935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only the pose delta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43000" y="5208587"/>
            <a:ext cx="48006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567237"/>
            <a:ext cx="460171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 band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943600" y="5208587"/>
            <a:ext cx="1307306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56406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2350" y="464661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50906" y="5208587"/>
            <a:ext cx="160625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30" name="Shape 28"/>
          <p:cNvSpPr/>
          <p:nvPr/>
        </p:nvSpPr>
        <p:spPr>
          <a:xfrm>
            <a:off x="7250906" y="456406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9656" y="464661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857159" y="5208587"/>
            <a:ext cx="828784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33" name="Text 31"/>
          <p:cNvSpPr/>
          <p:nvPr/>
        </p:nvSpPr>
        <p:spPr>
          <a:xfrm>
            <a:off x="8857159" y="4567237"/>
            <a:ext cx="81935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renders wide; client crops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43000" y="6103937"/>
            <a:ext cx="48006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5462588"/>
            <a:ext cx="460171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Motion vectors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943600" y="6103937"/>
            <a:ext cx="1307306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545941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2350" y="554196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250906" y="6103937"/>
            <a:ext cx="160625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0" name="Shape 38"/>
          <p:cNvSpPr/>
          <p:nvPr/>
        </p:nvSpPr>
        <p:spPr>
          <a:xfrm>
            <a:off x="7250906" y="5459413"/>
            <a:ext cx="637580" cy="463550"/>
          </a:xfrm>
          <a:prstGeom prst="rect">
            <a:avLst/>
          </a:prstGeom>
          <a:ln w="6350">
            <a:solidFill>
              <a:srgbClr val="6E4A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9656" y="5541963"/>
            <a:ext cx="3962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857159" y="6103937"/>
            <a:ext cx="828784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3" name="Text 41"/>
          <p:cNvSpPr/>
          <p:nvPr/>
        </p:nvSpPr>
        <p:spPr>
          <a:xfrm>
            <a:off x="8857159" y="5462588"/>
            <a:ext cx="81935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YUV 4:2:0 video has no channel for per-pixel velocity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1143000" y="6999287"/>
            <a:ext cx="48006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5" name="Text 43"/>
          <p:cNvSpPr/>
          <p:nvPr/>
        </p:nvSpPr>
        <p:spPr>
          <a:xfrm>
            <a:off x="1143000" y="6357938"/>
            <a:ext cx="460171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De-ghosting clamp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5943600" y="6999287"/>
            <a:ext cx="1307306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7" name="Shape 45"/>
          <p:cNvSpPr/>
          <p:nvPr/>
        </p:nvSpPr>
        <p:spPr>
          <a:xfrm>
            <a:off x="5943600" y="6354763"/>
            <a:ext cx="797620" cy="463550"/>
          </a:xfrm>
          <a:prstGeom prst="rect">
            <a:avLst/>
          </a:prstGeom>
          <a:ln w="6350">
            <a:solidFill>
              <a:srgbClr val="0E5E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2350" y="6437313"/>
            <a:ext cx="55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250906" y="6999287"/>
            <a:ext cx="160625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50" name="Shape 48"/>
          <p:cNvSpPr/>
          <p:nvPr/>
        </p:nvSpPr>
        <p:spPr>
          <a:xfrm>
            <a:off x="7250906" y="6354763"/>
            <a:ext cx="1117600" cy="463550"/>
          </a:xfrm>
          <a:prstGeom prst="rect">
            <a:avLst/>
          </a:prstGeom>
          <a:ln w="6350">
            <a:solidFill>
              <a:srgbClr val="6E4A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9656" y="6437313"/>
            <a:ext cx="876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B4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INERT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857159" y="6999287"/>
            <a:ext cx="8287842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857159" y="6357938"/>
            <a:ext cx="81935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velocity, mathematically a no-op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143000" y="7466013"/>
            <a:ext cx="1255776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Rotation only — no object motion, disocclusion, or parallax. The 17 ms figure is a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2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floor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3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mouse polling, GPU queueing and scanout are invisible to a browser. Absolute claims need hardware ground truth.</a:t>
            </a:r>
            <a:endParaRPr lang="en-US" sz="2250" dirty="0"/>
          </a:p>
        </p:txBody>
      </p:sp>
      <p:sp>
        <p:nvSpPr>
          <p:cNvPr id="55" name="Shape 53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56" name="Text 54"/>
          <p:cNvSpPr/>
          <p:nvPr/>
        </p:nvSpPr>
        <p:spPr>
          <a:xfrm>
            <a:off x="1143000" y="9569450"/>
            <a:ext cx="1767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WARP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562557" y="9569450"/>
            <a:ext cx="574991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 3 · HONEST CAPABILITY TABLE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2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57958" y="1071563"/>
            <a:ext cx="5334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4" name="Text 2"/>
          <p:cNvSpPr/>
          <p:nvPr/>
        </p:nvSpPr>
        <p:spPr>
          <a:xfrm>
            <a:off x="2519958" y="914400"/>
            <a:ext cx="20078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1FD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963168"/>
            <a:ext cx="15304770" cy="318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100" b="1" spc="-122" kern="0" dirty="0">
                <a:solidFill>
                  <a:srgbClr val="F2F5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latency the network adds doesn't have to be the latency </a:t>
            </a:r>
            <a:pPr algn="l" indent="0" marL="0">
              <a:lnSpc>
                <a:spcPct val="102000"/>
              </a:lnSpc>
              <a:buNone/>
            </a:pPr>
            <a:r>
              <a:rPr lang="en-US" sz="8100" b="1" spc="-122" kern="0" dirty="0">
                <a:solidFill>
                  <a:srgbClr val="1F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player feels.</a:t>
            </a:r>
            <a:endParaRPr lang="en-US" sz="8100" dirty="0"/>
          </a:p>
        </p:txBody>
      </p:sp>
      <p:sp>
        <p:nvSpPr>
          <p:cNvPr id="6" name="Shape 4"/>
          <p:cNvSpPr/>
          <p:nvPr/>
        </p:nvSpPr>
        <p:spPr>
          <a:xfrm>
            <a:off x="1143000" y="7139583"/>
            <a:ext cx="5118100" cy="463550"/>
          </a:xfrm>
          <a:prstGeom prst="rect">
            <a:avLst/>
          </a:prstGeom>
          <a:ln w="6350">
            <a:solidFill>
              <a:srgbClr val="23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1750" y="7222133"/>
            <a:ext cx="495414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3A0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PHOTODIODE GROUND TRUTH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89700" y="7139583"/>
            <a:ext cx="4798120" cy="463550"/>
          </a:xfrm>
          <a:prstGeom prst="rect">
            <a:avLst/>
          </a:prstGeom>
          <a:ln w="6350">
            <a:solidFill>
              <a:srgbClr val="23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8450" y="7222133"/>
            <a:ext cx="4624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3A0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CONTROLLED USER STUDY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516420" y="7139583"/>
            <a:ext cx="5278140" cy="463550"/>
          </a:xfrm>
          <a:prstGeom prst="rect">
            <a:avLst/>
          </a:prstGeom>
          <a:ln w="6350">
            <a:solidFill>
              <a:srgbClr val="23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75170" y="7222133"/>
            <a:ext cx="51189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3A0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DEPTH-AWARE REPROJECTION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7831733"/>
            <a:ext cx="4478040" cy="463550"/>
          </a:xfrm>
          <a:prstGeom prst="rect">
            <a:avLst/>
          </a:prstGeom>
          <a:ln w="6350">
            <a:solidFill>
              <a:srgbClr val="23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1750" y="7914283"/>
            <a:ext cx="429488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3A0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TANGENT-EXACT REMAP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9372600"/>
            <a:ext cx="16002000" cy="9525"/>
          </a:xfrm>
          <a:prstGeom prst="rect">
            <a:avLst/>
          </a:prstGeom>
          <a:solidFill>
            <a:srgbClr val="232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9569450"/>
            <a:ext cx="331061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ISAAC · URK23AI1035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592473" y="9569450"/>
            <a:ext cx="36591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65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 ·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2026-06-10T19:04:54Z</dcterms:created>
  <dcterms:modified xsi:type="dcterms:W3CDTF">2026-06-10T19:04:54Z</dcterms:modified>
</cp:coreProperties>
</file>